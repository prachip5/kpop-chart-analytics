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33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532D69"/>
          </a:solidFill>
          <a:ln>
            <a:solidFill>
              <a:srgbClr val="532D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504225" y="-22860"/>
            <a:ext cx="3687775" cy="6858000"/>
          </a:xfrm>
          <a:prstGeom prst="rect">
            <a:avLst/>
          </a:prstGeom>
          <a:solidFill>
            <a:srgbClr val="FAF8FC"/>
          </a:solidFill>
          <a:ln>
            <a:solidFill>
              <a:srgbClr val="FA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A99A2B49-9726-0C40-4900-3803CBC10DB8}"/>
              </a:ext>
            </a:extLst>
          </p:cNvPr>
          <p:cNvSpPr/>
          <p:nvPr/>
        </p:nvSpPr>
        <p:spPr>
          <a:xfrm>
            <a:off x="8183880" y="4201668"/>
            <a:ext cx="1234440" cy="1446474"/>
          </a:xfrm>
          <a:prstGeom prst="ellipse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5" name="Oval 4"/>
          <p:cNvSpPr/>
          <p:nvPr/>
        </p:nvSpPr>
        <p:spPr>
          <a:xfrm>
            <a:off x="9144000" y="-731520"/>
            <a:ext cx="3840480" cy="3840480"/>
          </a:xfrm>
          <a:prstGeom prst="ellipse">
            <a:avLst/>
          </a:prstGeom>
          <a:solidFill>
            <a:srgbClr val="DECFE7"/>
          </a:solidFill>
          <a:ln>
            <a:solidFill>
              <a:srgbClr val="DECF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738360" y="-137160"/>
            <a:ext cx="2651760" cy="2651760"/>
          </a:xfrm>
          <a:prstGeom prst="ellipse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777240" y="1143000"/>
            <a:ext cx="21031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7E469F"/>
                </a:solidFill>
                <a:latin typeface="Aptos"/>
              </a:rPr>
              <a:t>K-POP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572768"/>
            <a:ext cx="722376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400" b="1">
                <a:solidFill>
                  <a:srgbClr val="532D69"/>
                </a:solidFill>
                <a:latin typeface="Aptos"/>
              </a:rPr>
              <a:t>CHART ANALYTICS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359152"/>
            <a:ext cx="740664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300" b="1">
                <a:solidFill>
                  <a:srgbClr val="27202B"/>
                </a:solidFill>
                <a:latin typeface="Aptos"/>
              </a:rPr>
              <a:t>Comeback Momentum, Chart Re-Entry,
and Fandom Intensity Analysis</a:t>
            </a:r>
          </a:p>
        </p:txBody>
      </p:sp>
      <p:pic>
        <p:nvPicPr>
          <p:cNvPr id="7" name="Picture 6" descr="clean_modern_vector_graphic_logo_design_on_a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44295" y="1371600"/>
            <a:ext cx="3334955" cy="366743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3520440"/>
            <a:ext cx="54864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7E469F"/>
                </a:solidFill>
                <a:latin typeface="Aptos"/>
              </a:rPr>
              <a:t>South Korea Top 50 Playlist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4160520"/>
            <a:ext cx="1234440" cy="41148"/>
          </a:xfrm>
          <a:prstGeom prst="rect">
            <a:avLst/>
          </a:prstGeom>
          <a:solidFill>
            <a:srgbClr val="DECFE7"/>
          </a:solidFill>
          <a:ln>
            <a:solidFill>
              <a:srgbClr val="DECF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77240" y="4370832"/>
            <a:ext cx="50292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1">
                <a:solidFill>
                  <a:srgbClr val="6F6674"/>
                </a:solidFill>
                <a:latin typeface="Aptos"/>
              </a:rPr>
              <a:t>DATA SCIENCE &amp; ANALYTICS PROJECT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983480"/>
            <a:ext cx="65836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dirty="0">
                <a:solidFill>
                  <a:srgbClr val="6F6674"/>
                </a:solidFill>
                <a:latin typeface="Aptos"/>
              </a:rPr>
              <a:t>A structured analysis of chart re-entry,
comeback momentum, fandom intensity and sustainability.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502920"/>
            <a:ext cx="89611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532D69"/>
                </a:solidFill>
                <a:latin typeface="Aptos"/>
              </a:rPr>
              <a:t>Executive Snapshot</a:t>
            </a:r>
          </a:p>
        </p:txBody>
      </p:sp>
      <p:sp>
        <p:nvSpPr>
          <p:cNvPr id="3" name="Rectangle 2"/>
          <p:cNvSpPr/>
          <p:nvPr/>
        </p:nvSpPr>
        <p:spPr>
          <a:xfrm>
            <a:off x="694944" y="1078992"/>
            <a:ext cx="640080" cy="50292"/>
          </a:xfrm>
          <a:prstGeom prst="rect">
            <a:avLst/>
          </a:prstGeom>
          <a:solidFill>
            <a:srgbClr val="7E469F"/>
          </a:solidFill>
          <a:ln>
            <a:solidFill>
              <a:srgbClr val="7E46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1170432"/>
            <a:ext cx="98755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>
                <a:solidFill>
                  <a:srgbClr val="6F6674"/>
                </a:solidFill>
                <a:latin typeface="Aptos"/>
              </a:rPr>
              <a:t>The project converts chart history into measurable analytical dimensions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502920"/>
            <a:ext cx="5029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1">
                <a:solidFill>
                  <a:srgbClr val="6F6674"/>
                </a:solidFill>
                <a:latin typeface="Aptos"/>
              </a:rP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2423160" cy="1234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8E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54864" cy="1234440"/>
          </a:xfrm>
          <a:prstGeom prst="rect">
            <a:avLst/>
          </a:prstGeom>
          <a:solidFill>
            <a:srgbClr val="532D69"/>
          </a:solidFill>
          <a:ln>
            <a:solidFill>
              <a:srgbClr val="532D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41832" y="1810512"/>
            <a:ext cx="20574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532D69"/>
                </a:solidFill>
                <a:latin typeface="Aptos"/>
              </a:rPr>
              <a:t>27,800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" y="2286000"/>
            <a:ext cx="20574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6F6674"/>
                </a:solidFill>
                <a:latin typeface="Aptos"/>
              </a:rPr>
              <a:t>Raw chart records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20440" y="1645920"/>
            <a:ext cx="2423160" cy="1234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8E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520440" y="1645920"/>
            <a:ext cx="54864" cy="1234440"/>
          </a:xfrm>
          <a:prstGeom prst="rect">
            <a:avLst/>
          </a:prstGeom>
          <a:solidFill>
            <a:srgbClr val="7E469F"/>
          </a:solidFill>
          <a:ln>
            <a:solidFill>
              <a:srgbClr val="7E46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730752" y="1810512"/>
            <a:ext cx="20574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532D69"/>
                </a:solidFill>
                <a:latin typeface="Aptos"/>
              </a:rPr>
              <a:t>1,067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30752" y="2286000"/>
            <a:ext cx="20574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6F6674"/>
                </a:solidFill>
                <a:latin typeface="Aptos"/>
              </a:rPr>
              <a:t>Detected re-entry events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1645920"/>
            <a:ext cx="2423160" cy="1234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8E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309360" y="1645920"/>
            <a:ext cx="54864" cy="1234440"/>
          </a:xfrm>
          <a:prstGeom prst="rect">
            <a:avLst/>
          </a:prstGeom>
          <a:solidFill>
            <a:srgbClr val="9768B5"/>
          </a:solidFill>
          <a:ln>
            <a:solidFill>
              <a:srgbClr val="9768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19672" y="1810512"/>
            <a:ext cx="20574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532D69"/>
                </a:solidFill>
                <a:latin typeface="Aptos"/>
              </a:rPr>
              <a:t>194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19672" y="2286000"/>
            <a:ext cx="20574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6F6674"/>
                </a:solidFill>
                <a:latin typeface="Aptos"/>
              </a:rPr>
              <a:t>Unique artists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98280" y="1645920"/>
            <a:ext cx="2423160" cy="1234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8E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098280" y="1645920"/>
            <a:ext cx="54864" cy="1234440"/>
          </a:xfrm>
          <a:prstGeom prst="rect">
            <a:avLst/>
          </a:prstGeom>
          <a:solidFill>
            <a:srgbClr val="532D69"/>
          </a:solidFill>
          <a:ln>
            <a:solidFill>
              <a:srgbClr val="532D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308592" y="1810512"/>
            <a:ext cx="20574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532D69"/>
                </a:solidFill>
                <a:latin typeface="Aptos"/>
              </a:rPr>
              <a:t>8.68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08592" y="2286000"/>
            <a:ext cx="20574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6F6674"/>
                </a:solidFill>
                <a:latin typeface="Aptos"/>
              </a:rPr>
              <a:t>Average gap • days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3246120"/>
            <a:ext cx="10789920" cy="2240280"/>
          </a:xfrm>
          <a:prstGeom prst="roundRect">
            <a:avLst>
              <a:gd name="adj" fmla="val 12000"/>
            </a:avLst>
          </a:prstGeom>
          <a:solidFill>
            <a:srgbClr val="FAF8FC"/>
          </a:solidFill>
          <a:ln>
            <a:solidFill>
              <a:srgbClr val="FA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05840" y="3493008"/>
            <a:ext cx="29260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7E469F"/>
                </a:solidFill>
                <a:latin typeface="Aptos"/>
              </a:rPr>
              <a:t>PROJECT IN ONE VIEW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3931920"/>
            <a:ext cx="96926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1">
                <a:solidFill>
                  <a:srgbClr val="27202B"/>
                </a:solidFill>
                <a:latin typeface="Aptos"/>
              </a:rPr>
              <a:t>From raw chart records → re-entry detection → momentum → fandom intensity → sustainability → integrated performance.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4800600"/>
            <a:ext cx="11887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1">
                <a:solidFill>
                  <a:srgbClr val="6F6674"/>
                </a:solidFill>
                <a:latin typeface="Aptos"/>
              </a:rPr>
              <a:t>Final output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48840" y="4736592"/>
            <a:ext cx="80467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>
                <a:solidFill>
                  <a:srgbClr val="532D69"/>
                </a:solidFill>
                <a:latin typeface="Aptos"/>
              </a:rPr>
              <a:t>Jupyter analysis + interactive Streamlit dashboard + research presentation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6492240"/>
            <a:ext cx="36576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6F6674"/>
                </a:solidFill>
                <a:latin typeface="Aptos"/>
              </a:rPr>
              <a:t>K-POP CHART ANALYTICS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789920" y="6574536"/>
            <a:ext cx="685800" cy="22860"/>
          </a:xfrm>
          <a:prstGeom prst="rect">
            <a:avLst/>
          </a:prstGeom>
          <a:solidFill>
            <a:srgbClr val="DECFE7"/>
          </a:solidFill>
          <a:ln>
            <a:solidFill>
              <a:srgbClr val="DECF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502920"/>
            <a:ext cx="89611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532D69"/>
                </a:solidFill>
                <a:latin typeface="Aptos"/>
              </a:rPr>
              <a:t>Research Focus</a:t>
            </a:r>
          </a:p>
        </p:txBody>
      </p:sp>
      <p:sp>
        <p:nvSpPr>
          <p:cNvPr id="3" name="Rectangle 2"/>
          <p:cNvSpPr/>
          <p:nvPr/>
        </p:nvSpPr>
        <p:spPr>
          <a:xfrm>
            <a:off x="694944" y="1078992"/>
            <a:ext cx="640080" cy="50292"/>
          </a:xfrm>
          <a:prstGeom prst="rect">
            <a:avLst/>
          </a:prstGeom>
          <a:solidFill>
            <a:srgbClr val="7E469F"/>
          </a:solidFill>
          <a:ln>
            <a:solidFill>
              <a:srgbClr val="7E46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1170432"/>
            <a:ext cx="98755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>
                <a:solidFill>
                  <a:srgbClr val="6F6674"/>
                </a:solidFill>
                <a:latin typeface="Aptos"/>
              </a:rPr>
              <a:t>What the analysis is designed to understand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502920"/>
            <a:ext cx="5029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1">
                <a:solidFill>
                  <a:srgbClr val="6F6674"/>
                </a:solidFill>
                <a:latin typeface="Aptos"/>
              </a:rP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3154680" cy="4251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8E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1874519"/>
            <a:ext cx="1828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7E469F"/>
                </a:solidFill>
                <a:latin typeface="Aptos"/>
              </a:rPr>
              <a:t>THE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31720"/>
            <a:ext cx="251460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27202B"/>
                </a:solidFill>
                <a:latin typeface="Aptos"/>
              </a:rPr>
              <a:t>Chart rankings change every day.
A song may disappear, return, and repeatedly re-enter the Top 50.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886200"/>
            <a:ext cx="25146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6F6674"/>
                </a:solidFill>
                <a:latin typeface="Aptos"/>
              </a:rPr>
              <a:t>The challenge is turning these repeated movements into meaningful, comparable metrics.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1960" y="1600200"/>
            <a:ext cx="7269480" cy="4251960"/>
          </a:xfrm>
          <a:prstGeom prst="roundRect">
            <a:avLst>
              <a:gd name="adj" fmla="val 12000"/>
            </a:avLst>
          </a:prstGeom>
          <a:solidFill>
            <a:srgbClr val="FAF8FC"/>
          </a:solidFill>
          <a:ln>
            <a:solidFill>
              <a:srgbClr val="FA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0" y="1874519"/>
            <a:ext cx="31089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7E469F"/>
                </a:solidFill>
                <a:latin typeface="Aptos"/>
              </a:rPr>
              <a:t>ANALYTICAL OBJECTIVES</a:t>
            </a:r>
          </a:p>
        </p:txBody>
      </p:sp>
      <p:sp>
        <p:nvSpPr>
          <p:cNvPr id="12" name="Oval 11"/>
          <p:cNvSpPr/>
          <p:nvPr/>
        </p:nvSpPr>
        <p:spPr>
          <a:xfrm>
            <a:off x="4572000" y="2423160"/>
            <a:ext cx="292608" cy="292608"/>
          </a:xfrm>
          <a:prstGeom prst="ellipse">
            <a:avLst/>
          </a:prstGeom>
          <a:solidFill>
            <a:srgbClr val="7E469F"/>
          </a:solidFill>
          <a:ln>
            <a:solidFill>
              <a:srgbClr val="7E46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0" y="2432303"/>
            <a:ext cx="292608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74920" y="2377440"/>
            <a:ext cx="5669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27202B"/>
                </a:solidFill>
                <a:latin typeface="Aptos"/>
              </a:rPr>
              <a:t>Detect chart re-entry events</a:t>
            </a:r>
          </a:p>
        </p:txBody>
      </p:sp>
      <p:sp>
        <p:nvSpPr>
          <p:cNvPr id="15" name="Oval 14"/>
          <p:cNvSpPr/>
          <p:nvPr/>
        </p:nvSpPr>
        <p:spPr>
          <a:xfrm>
            <a:off x="4572000" y="3035808"/>
            <a:ext cx="292608" cy="292608"/>
          </a:xfrm>
          <a:prstGeom prst="ellipse">
            <a:avLst/>
          </a:prstGeom>
          <a:solidFill>
            <a:srgbClr val="7E469F"/>
          </a:solidFill>
          <a:ln>
            <a:solidFill>
              <a:srgbClr val="7E46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72000" y="3044951"/>
            <a:ext cx="292608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74920" y="2990088"/>
            <a:ext cx="5669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27202B"/>
                </a:solidFill>
                <a:latin typeface="Aptos"/>
              </a:rPr>
              <a:t>Measure comeback momentum</a:t>
            </a:r>
          </a:p>
        </p:txBody>
      </p:sp>
      <p:sp>
        <p:nvSpPr>
          <p:cNvPr id="18" name="Oval 17"/>
          <p:cNvSpPr/>
          <p:nvPr/>
        </p:nvSpPr>
        <p:spPr>
          <a:xfrm>
            <a:off x="4572000" y="3648456"/>
            <a:ext cx="292608" cy="292608"/>
          </a:xfrm>
          <a:prstGeom prst="ellipse">
            <a:avLst/>
          </a:prstGeom>
          <a:solidFill>
            <a:srgbClr val="7E469F"/>
          </a:solidFill>
          <a:ln>
            <a:solidFill>
              <a:srgbClr val="7E46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72000" y="3657600"/>
            <a:ext cx="292608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74920" y="3602736"/>
            <a:ext cx="5669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27202B"/>
                </a:solidFill>
                <a:latin typeface="Aptos"/>
              </a:rPr>
              <a:t>Construct a chart-based fandom intensity proxy</a:t>
            </a:r>
          </a:p>
        </p:txBody>
      </p:sp>
      <p:sp>
        <p:nvSpPr>
          <p:cNvPr id="21" name="Oval 20"/>
          <p:cNvSpPr/>
          <p:nvPr/>
        </p:nvSpPr>
        <p:spPr>
          <a:xfrm>
            <a:off x="4572000" y="4261104"/>
            <a:ext cx="292608" cy="292608"/>
          </a:xfrm>
          <a:prstGeom prst="ellipse">
            <a:avLst/>
          </a:prstGeom>
          <a:solidFill>
            <a:srgbClr val="7E469F"/>
          </a:solidFill>
          <a:ln>
            <a:solidFill>
              <a:srgbClr val="7E46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572000" y="4270248"/>
            <a:ext cx="292608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74920" y="4215384"/>
            <a:ext cx="5669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27202B"/>
                </a:solidFill>
                <a:latin typeface="Aptos"/>
              </a:rPr>
              <a:t>Measure longer-term chart sustainability</a:t>
            </a:r>
          </a:p>
        </p:txBody>
      </p:sp>
      <p:sp>
        <p:nvSpPr>
          <p:cNvPr id="24" name="Oval 23"/>
          <p:cNvSpPr/>
          <p:nvPr/>
        </p:nvSpPr>
        <p:spPr>
          <a:xfrm>
            <a:off x="4572000" y="4873752"/>
            <a:ext cx="292608" cy="292608"/>
          </a:xfrm>
          <a:prstGeom prst="ellipse">
            <a:avLst/>
          </a:prstGeom>
          <a:solidFill>
            <a:srgbClr val="7E469F"/>
          </a:solidFill>
          <a:ln>
            <a:solidFill>
              <a:srgbClr val="7E46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572000" y="4882896"/>
            <a:ext cx="292608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74920" y="4828032"/>
            <a:ext cx="5669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27202B"/>
                </a:solidFill>
                <a:latin typeface="Aptos"/>
              </a:rPr>
              <a:t>Integrate the dimensions into one performance framework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6492240"/>
            <a:ext cx="36576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6F6674"/>
                </a:solidFill>
                <a:latin typeface="Aptos"/>
              </a:rPr>
              <a:t>K-POP CHART ANALYTICS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789920" y="6574536"/>
            <a:ext cx="685800" cy="22860"/>
          </a:xfrm>
          <a:prstGeom prst="rect">
            <a:avLst/>
          </a:prstGeom>
          <a:solidFill>
            <a:srgbClr val="DECFE7"/>
          </a:solidFill>
          <a:ln>
            <a:solidFill>
              <a:srgbClr val="DECF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502920"/>
            <a:ext cx="89611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532D69"/>
                </a:solidFill>
                <a:latin typeface="Aptos"/>
              </a:rPr>
              <a:t>Data &amp; Preparation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94944" y="1078992"/>
            <a:ext cx="640080" cy="50292"/>
          </a:xfrm>
          <a:prstGeom prst="rect">
            <a:avLst/>
          </a:prstGeom>
          <a:solidFill>
            <a:srgbClr val="7E469F"/>
          </a:solidFill>
          <a:ln>
            <a:solidFill>
              <a:srgbClr val="7E46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1170432"/>
            <a:ext cx="98755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>
                <a:solidFill>
                  <a:srgbClr val="6F6674"/>
                </a:solidFill>
                <a:latin typeface="Aptos"/>
              </a:rPr>
              <a:t>A clean analytical pipeline before scoring and visualization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502920"/>
            <a:ext cx="5029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1">
                <a:solidFill>
                  <a:srgbClr val="6F6674"/>
                </a:solidFill>
                <a:latin typeface="Aptos"/>
              </a:rP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3657600" cy="4343400"/>
          </a:xfrm>
          <a:prstGeom prst="roundRect">
            <a:avLst>
              <a:gd name="adj" fmla="val 12000"/>
            </a:avLst>
          </a:prstGeom>
          <a:solidFill>
            <a:srgbClr val="FAF8FC"/>
          </a:solidFill>
          <a:ln>
            <a:solidFill>
              <a:srgbClr val="FA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1847088"/>
            <a:ext cx="20116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7E469F"/>
                </a:solidFill>
                <a:latin typeface="Aptos"/>
              </a:rPr>
              <a:t>DATA STRUCTURE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331720"/>
            <a:ext cx="2743200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>
                <a:solidFill>
                  <a:srgbClr val="27202B"/>
                </a:solidFill>
                <a:latin typeface="Aptos"/>
              </a:rPr>
              <a:t>date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679191"/>
            <a:ext cx="2743200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>
                <a:solidFill>
                  <a:srgbClr val="27202B"/>
                </a:solidFill>
                <a:latin typeface="Aptos"/>
              </a:rPr>
              <a:t>position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3026663"/>
            <a:ext cx="2743200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>
                <a:solidFill>
                  <a:srgbClr val="27202B"/>
                </a:solidFill>
                <a:latin typeface="Aptos"/>
              </a:rPr>
              <a:t>song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3374136"/>
            <a:ext cx="2743200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>
                <a:solidFill>
                  <a:srgbClr val="27202B"/>
                </a:solidFill>
                <a:latin typeface="Aptos"/>
              </a:rPr>
              <a:t>artist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3721608"/>
            <a:ext cx="2743200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>
                <a:solidFill>
                  <a:srgbClr val="27202B"/>
                </a:solidFill>
                <a:latin typeface="Aptos"/>
              </a:rPr>
              <a:t>popularity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4069079"/>
            <a:ext cx="2743200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>
                <a:solidFill>
                  <a:srgbClr val="27202B"/>
                </a:solidFill>
                <a:latin typeface="Aptos"/>
              </a:rPr>
              <a:t>album_type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4416552"/>
            <a:ext cx="2743200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>
                <a:solidFill>
                  <a:srgbClr val="27202B"/>
                </a:solidFill>
                <a:latin typeface="Aptos"/>
              </a:rPr>
              <a:t>total_tracks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4764024"/>
            <a:ext cx="2743200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>
                <a:solidFill>
                  <a:srgbClr val="27202B"/>
                </a:solidFill>
                <a:latin typeface="Aptos"/>
              </a:rPr>
              <a:t>is_explicit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5111496"/>
            <a:ext cx="2743200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>
                <a:solidFill>
                  <a:srgbClr val="27202B"/>
                </a:solidFill>
                <a:latin typeface="Aptos"/>
              </a:rPr>
              <a:t>album_cover_url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663440" y="1554480"/>
            <a:ext cx="6858000" cy="4343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8E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983480" y="1847088"/>
            <a:ext cx="1828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7E469F"/>
                </a:solidFill>
                <a:latin typeface="Aptos"/>
              </a:rPr>
              <a:t>PIPELINE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983480" y="2286000"/>
            <a:ext cx="548640" cy="438912"/>
          </a:xfrm>
          <a:prstGeom prst="roundRect">
            <a:avLst>
              <a:gd name="adj" fmla="val 12000"/>
            </a:avLst>
          </a:prstGeom>
          <a:solidFill>
            <a:srgbClr val="DECFE7"/>
          </a:solidFill>
          <a:ln>
            <a:solidFill>
              <a:srgbClr val="DECF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983480" y="2304288"/>
            <a:ext cx="5486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532D69"/>
                </a:solidFill>
                <a:latin typeface="Aptos"/>
              </a:rPr>
              <a:t>01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60720" y="2267712"/>
            <a:ext cx="123444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>
                <a:solidFill>
                  <a:srgbClr val="27202B"/>
                </a:solidFill>
                <a:latin typeface="Aptos"/>
              </a:rPr>
              <a:t>Inspect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9440" y="2267712"/>
            <a:ext cx="3886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6F6674"/>
                </a:solidFill>
                <a:latin typeface="Aptos"/>
              </a:rPr>
              <a:t>Validate schema, dates and positions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983480" y="2944368"/>
            <a:ext cx="548640" cy="438912"/>
          </a:xfrm>
          <a:prstGeom prst="roundRect">
            <a:avLst>
              <a:gd name="adj" fmla="val 12000"/>
            </a:avLst>
          </a:prstGeom>
          <a:solidFill>
            <a:srgbClr val="DECFE7"/>
          </a:solidFill>
          <a:ln>
            <a:solidFill>
              <a:srgbClr val="DECF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983480" y="2962656"/>
            <a:ext cx="5486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532D69"/>
                </a:solidFill>
                <a:latin typeface="Aptos"/>
              </a:rPr>
              <a:t>02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60720" y="2926079"/>
            <a:ext cx="123444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>
                <a:solidFill>
                  <a:srgbClr val="27202B"/>
                </a:solidFill>
                <a:latin typeface="Aptos"/>
              </a:rPr>
              <a:t>Clean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49440" y="2926079"/>
            <a:ext cx="3886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6F6674"/>
                </a:solidFill>
                <a:latin typeface="Aptos"/>
              </a:rPr>
              <a:t>Prepare consistent analysis fields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983480" y="3602736"/>
            <a:ext cx="548640" cy="438912"/>
          </a:xfrm>
          <a:prstGeom prst="roundRect">
            <a:avLst>
              <a:gd name="adj" fmla="val 12000"/>
            </a:avLst>
          </a:prstGeom>
          <a:solidFill>
            <a:srgbClr val="DECFE7"/>
          </a:solidFill>
          <a:ln>
            <a:solidFill>
              <a:srgbClr val="DECF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983480" y="3621024"/>
            <a:ext cx="5486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532D69"/>
                </a:solidFill>
                <a:latin typeface="Aptos"/>
              </a:rPr>
              <a:t>03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760720" y="3584448"/>
            <a:ext cx="123444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>
                <a:solidFill>
                  <a:srgbClr val="27202B"/>
                </a:solidFill>
                <a:latin typeface="Aptos"/>
              </a:rPr>
              <a:t>Detect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49440" y="3584448"/>
            <a:ext cx="3886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6F6674"/>
                </a:solidFill>
                <a:latin typeface="Aptos"/>
              </a:rPr>
              <a:t>Identify chart re-entry events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983480" y="4261104"/>
            <a:ext cx="548640" cy="438912"/>
          </a:xfrm>
          <a:prstGeom prst="roundRect">
            <a:avLst>
              <a:gd name="adj" fmla="val 12000"/>
            </a:avLst>
          </a:prstGeom>
          <a:solidFill>
            <a:srgbClr val="DECFE7"/>
          </a:solidFill>
          <a:ln>
            <a:solidFill>
              <a:srgbClr val="DECF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983480" y="4279392"/>
            <a:ext cx="5486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532D69"/>
                </a:solidFill>
                <a:latin typeface="Aptos"/>
              </a:rPr>
              <a:t>04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760720" y="4242816"/>
            <a:ext cx="123444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>
                <a:solidFill>
                  <a:srgbClr val="27202B"/>
                </a:solidFill>
                <a:latin typeface="Aptos"/>
              </a:rPr>
              <a:t>Score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49440" y="4242816"/>
            <a:ext cx="3886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6F6674"/>
                </a:solidFill>
                <a:latin typeface="Aptos"/>
              </a:rPr>
              <a:t>Calculate momentum, fandom and sustainability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983480" y="4919472"/>
            <a:ext cx="548640" cy="438912"/>
          </a:xfrm>
          <a:prstGeom prst="roundRect">
            <a:avLst>
              <a:gd name="adj" fmla="val 12000"/>
            </a:avLst>
          </a:prstGeom>
          <a:solidFill>
            <a:srgbClr val="DECFE7"/>
          </a:solidFill>
          <a:ln>
            <a:solidFill>
              <a:srgbClr val="DECF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983480" y="4937759"/>
            <a:ext cx="5486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532D69"/>
                </a:solidFill>
                <a:latin typeface="Aptos"/>
              </a:rPr>
              <a:t>05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760720" y="4901184"/>
            <a:ext cx="123444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>
                <a:solidFill>
                  <a:srgbClr val="27202B"/>
                </a:solidFill>
                <a:latin typeface="Aptos"/>
              </a:rPr>
              <a:t>Integrate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49440" y="4901184"/>
            <a:ext cx="3886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6F6674"/>
                </a:solidFill>
                <a:latin typeface="Aptos"/>
              </a:rPr>
              <a:t>Create final performance dataset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" y="6492240"/>
            <a:ext cx="36576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6F6674"/>
                </a:solidFill>
                <a:latin typeface="Aptos"/>
              </a:rPr>
              <a:t>K-POP CHART ANALYTICS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789920" y="6574536"/>
            <a:ext cx="685800" cy="22860"/>
          </a:xfrm>
          <a:prstGeom prst="rect">
            <a:avLst/>
          </a:prstGeom>
          <a:solidFill>
            <a:srgbClr val="DECFE7"/>
          </a:solidFill>
          <a:ln>
            <a:solidFill>
              <a:srgbClr val="DECF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502920"/>
            <a:ext cx="89611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532D69"/>
                </a:solidFill>
                <a:latin typeface="Aptos"/>
              </a:rPr>
              <a:t>Chart Re-Entry</a:t>
            </a:r>
          </a:p>
        </p:txBody>
      </p:sp>
      <p:sp>
        <p:nvSpPr>
          <p:cNvPr id="3" name="Rectangle 2"/>
          <p:cNvSpPr/>
          <p:nvPr/>
        </p:nvSpPr>
        <p:spPr>
          <a:xfrm>
            <a:off x="694944" y="1078992"/>
            <a:ext cx="640080" cy="50292"/>
          </a:xfrm>
          <a:prstGeom prst="rect">
            <a:avLst/>
          </a:prstGeom>
          <a:solidFill>
            <a:srgbClr val="7E469F"/>
          </a:solidFill>
          <a:ln>
            <a:solidFill>
              <a:srgbClr val="7E46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1170432"/>
            <a:ext cx="98755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>
                <a:solidFill>
                  <a:srgbClr val="6F6674"/>
                </a:solidFill>
                <a:latin typeface="Aptos"/>
              </a:rPr>
              <a:t>Detecting songs that return after leaving the Top 50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502920"/>
            <a:ext cx="5029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1">
                <a:solidFill>
                  <a:srgbClr val="6F6674"/>
                </a:solidFill>
                <a:latin typeface="Aptos"/>
              </a:rPr>
              <a:t>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2926080" cy="1280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8E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600200"/>
            <a:ext cx="54864" cy="1280160"/>
          </a:xfrm>
          <a:prstGeom prst="rect">
            <a:avLst/>
          </a:prstGeom>
          <a:solidFill>
            <a:srgbClr val="532D69"/>
          </a:solidFill>
          <a:ln>
            <a:solidFill>
              <a:srgbClr val="532D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41832" y="1764792"/>
            <a:ext cx="25603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532D69"/>
                </a:solidFill>
                <a:latin typeface="Aptos"/>
              </a:rPr>
              <a:t>1,067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" y="2240280"/>
            <a:ext cx="25603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6F6674"/>
                </a:solidFill>
                <a:latin typeface="Aptos"/>
              </a:rPr>
              <a:t>Re-entry events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0" y="1600200"/>
            <a:ext cx="2926080" cy="1280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8E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840480" y="1600200"/>
            <a:ext cx="54864" cy="1280160"/>
          </a:xfrm>
          <a:prstGeom prst="rect">
            <a:avLst/>
          </a:prstGeom>
          <a:solidFill>
            <a:srgbClr val="7E469F"/>
          </a:solidFill>
          <a:ln>
            <a:solidFill>
              <a:srgbClr val="7E46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050792" y="1764792"/>
            <a:ext cx="25603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532D69"/>
                </a:solidFill>
                <a:latin typeface="Aptos"/>
              </a:rPr>
              <a:t>208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50792" y="2240280"/>
            <a:ext cx="25603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6F6674"/>
                </a:solidFill>
                <a:latin typeface="Aptos"/>
              </a:rPr>
              <a:t>Songs with re-entry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949440" y="1600200"/>
            <a:ext cx="2926080" cy="1280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8E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949440" y="1600200"/>
            <a:ext cx="54864" cy="1280160"/>
          </a:xfrm>
          <a:prstGeom prst="rect">
            <a:avLst/>
          </a:prstGeom>
          <a:solidFill>
            <a:srgbClr val="9768B5"/>
          </a:solidFill>
          <a:ln>
            <a:solidFill>
              <a:srgbClr val="9768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159752" y="1764792"/>
            <a:ext cx="25603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532D69"/>
                </a:solidFill>
                <a:latin typeface="Aptos"/>
              </a:rPr>
              <a:t>508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59752" y="2240280"/>
            <a:ext cx="25603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6F6674"/>
                </a:solidFill>
                <a:latin typeface="Aptos"/>
              </a:rPr>
              <a:t>Longest gap • days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291840"/>
            <a:ext cx="9966960" cy="2057400"/>
          </a:xfrm>
          <a:prstGeom prst="roundRect">
            <a:avLst>
              <a:gd name="adj" fmla="val 12000"/>
            </a:avLst>
          </a:prstGeom>
          <a:solidFill>
            <a:srgbClr val="FAF8FC"/>
          </a:solidFill>
          <a:ln>
            <a:solidFill>
              <a:srgbClr val="FA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51560" y="3611880"/>
            <a:ext cx="20116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7E469F"/>
                </a:solidFill>
                <a:latin typeface="Aptos"/>
              </a:rPr>
              <a:t>RE-ENTRY LOGIC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4069080"/>
            <a:ext cx="85953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>
                <a:solidFill>
                  <a:srgbClr val="27202B"/>
                </a:solidFill>
                <a:latin typeface="Aptos"/>
              </a:rPr>
              <a:t>A re-entry occurs when a song appears on the Top 50 again after a period without a chart appearance.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4892040"/>
            <a:ext cx="6858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>
                <a:solidFill>
                  <a:srgbClr val="6F6674"/>
                </a:solidFill>
                <a:latin typeface="Aptos"/>
              </a:rPr>
              <a:t>This event-level dataset becomes the foundation for every later metric.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6492240"/>
            <a:ext cx="36576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6F6674"/>
                </a:solidFill>
                <a:latin typeface="Aptos"/>
              </a:rPr>
              <a:t>K-POP CHART ANALYTICS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789920" y="6574536"/>
            <a:ext cx="685800" cy="22860"/>
          </a:xfrm>
          <a:prstGeom prst="rect">
            <a:avLst/>
          </a:prstGeom>
          <a:solidFill>
            <a:srgbClr val="DECFE7"/>
          </a:solidFill>
          <a:ln>
            <a:solidFill>
              <a:srgbClr val="DECF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502920"/>
            <a:ext cx="89611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532D69"/>
                </a:solidFill>
                <a:latin typeface="Aptos"/>
              </a:rPr>
              <a:t>Comeback Momentum</a:t>
            </a:r>
          </a:p>
        </p:txBody>
      </p:sp>
      <p:sp>
        <p:nvSpPr>
          <p:cNvPr id="3" name="Rectangle 2"/>
          <p:cNvSpPr/>
          <p:nvPr/>
        </p:nvSpPr>
        <p:spPr>
          <a:xfrm>
            <a:off x="694944" y="1078992"/>
            <a:ext cx="640080" cy="50292"/>
          </a:xfrm>
          <a:prstGeom prst="rect">
            <a:avLst/>
          </a:prstGeom>
          <a:solidFill>
            <a:srgbClr val="7E469F"/>
          </a:solidFill>
          <a:ln>
            <a:solidFill>
              <a:srgbClr val="7E46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1170432"/>
            <a:ext cx="98755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>
                <a:solidFill>
                  <a:srgbClr val="6F6674"/>
                </a:solidFill>
                <a:latin typeface="Aptos"/>
              </a:rPr>
              <a:t>How strongly does a song return after an absence?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502920"/>
            <a:ext cx="5029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1">
                <a:solidFill>
                  <a:srgbClr val="6F6674"/>
                </a:solidFill>
                <a:latin typeface="Aptos"/>
              </a:rP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3657600" cy="4297680"/>
          </a:xfrm>
          <a:prstGeom prst="roundRect">
            <a:avLst>
              <a:gd name="adj" fmla="val 12000"/>
            </a:avLst>
          </a:prstGeom>
          <a:solidFill>
            <a:srgbClr val="FAF8FC"/>
          </a:solidFill>
          <a:ln>
            <a:solidFill>
              <a:srgbClr val="FA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1847088"/>
            <a:ext cx="2286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7E469F"/>
                </a:solidFill>
                <a:latin typeface="Aptos"/>
              </a:rPr>
              <a:t>MOMENTUM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423160"/>
            <a:ext cx="29260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532D69"/>
                </a:solidFill>
                <a:latin typeface="Aptos"/>
              </a:rPr>
              <a:t>Gap length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770632"/>
            <a:ext cx="28803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>
                <a:solidFill>
                  <a:srgbClr val="6F6674"/>
                </a:solidFill>
                <a:latin typeface="Aptos"/>
              </a:rPr>
              <a:t>Longer absence increases comeback opportunity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383280"/>
            <a:ext cx="29260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532D69"/>
                </a:solidFill>
                <a:latin typeface="Aptos"/>
              </a:rPr>
              <a:t>Re-entry position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730752"/>
            <a:ext cx="28803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>
                <a:solidFill>
                  <a:srgbClr val="6F6674"/>
                </a:solidFill>
                <a:latin typeface="Aptos"/>
              </a:rPr>
              <a:t>Higher chart placement indicates stronger return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343400"/>
            <a:ext cx="29260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532D69"/>
                </a:solidFill>
                <a:latin typeface="Aptos"/>
              </a:rPr>
              <a:t>Composite score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690872"/>
            <a:ext cx="28803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>
                <a:solidFill>
                  <a:srgbClr val="6F6674"/>
                </a:solidFill>
                <a:latin typeface="Aptos"/>
              </a:rPr>
              <a:t>Normalized combination of the two signals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63440" y="1554480"/>
            <a:ext cx="6858000" cy="4297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8E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983480" y="1847088"/>
            <a:ext cx="24688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7E469F"/>
                </a:solidFill>
                <a:latin typeface="Aptos"/>
              </a:rPr>
              <a:t>SONG-LEVEL OUTPUT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83480" y="2331720"/>
            <a:ext cx="2743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>
                <a:solidFill>
                  <a:srgbClr val="27202B"/>
                </a:solidFill>
                <a:latin typeface="Aptos"/>
              </a:rPr>
              <a:t>Total re-entries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0" y="2331720"/>
            <a:ext cx="19202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7D3C98"/>
                </a:solidFill>
                <a:latin typeface="Aptos"/>
              </a:rPr>
              <a:t>Frequency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83480" y="3017520"/>
            <a:ext cx="2743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>
                <a:solidFill>
                  <a:srgbClr val="27202B"/>
                </a:solidFill>
                <a:latin typeface="Aptos"/>
              </a:rPr>
              <a:t>Average gap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3017520"/>
            <a:ext cx="19202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7D3C98"/>
                </a:solidFill>
                <a:latin typeface="Aptos"/>
              </a:rPr>
              <a:t>Return interval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83480" y="3703320"/>
            <a:ext cx="2743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>
                <a:solidFill>
                  <a:srgbClr val="27202B"/>
                </a:solidFill>
                <a:latin typeface="Aptos"/>
              </a:rPr>
              <a:t>Best re-entry position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0" y="3703320"/>
            <a:ext cx="19202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7D3C98"/>
                </a:solidFill>
                <a:latin typeface="Aptos"/>
              </a:rPr>
              <a:t>Peak return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83480" y="4389120"/>
            <a:ext cx="2743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>
                <a:solidFill>
                  <a:srgbClr val="27202B"/>
                </a:solidFill>
                <a:latin typeface="Aptos"/>
              </a:rPr>
              <a:t>Average momentum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0" y="4389120"/>
            <a:ext cx="19202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7D3C98"/>
                </a:solidFill>
                <a:latin typeface="Aptos"/>
              </a:rPr>
              <a:t>Comeback strength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983480" y="5257800"/>
            <a:ext cx="5669280" cy="36576"/>
          </a:xfrm>
          <a:prstGeom prst="rect">
            <a:avLst/>
          </a:prstGeom>
          <a:solidFill>
            <a:srgbClr val="DECFE7"/>
          </a:solidFill>
          <a:ln>
            <a:solidFill>
              <a:srgbClr val="DECF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983480" y="5376672"/>
            <a:ext cx="56692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6F6674"/>
                </a:solidFill>
                <a:latin typeface="Aptos"/>
              </a:rPr>
              <a:t>Example: Our Blues, Our Life — Lim Young Woong • 31 detected re-entries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6492240"/>
            <a:ext cx="36576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6F6674"/>
                </a:solidFill>
                <a:latin typeface="Aptos"/>
              </a:rPr>
              <a:t>K-POP CHART ANALYTICS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789920" y="6574536"/>
            <a:ext cx="685800" cy="22860"/>
          </a:xfrm>
          <a:prstGeom prst="rect">
            <a:avLst/>
          </a:prstGeom>
          <a:solidFill>
            <a:srgbClr val="DECFE7"/>
          </a:solidFill>
          <a:ln>
            <a:solidFill>
              <a:srgbClr val="DECF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502920"/>
            <a:ext cx="89611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532D69"/>
                </a:solidFill>
                <a:latin typeface="Aptos"/>
              </a:rPr>
              <a:t>Fandom Intensity Proxy</a:t>
            </a:r>
          </a:p>
        </p:txBody>
      </p:sp>
      <p:sp>
        <p:nvSpPr>
          <p:cNvPr id="3" name="Rectangle 2"/>
          <p:cNvSpPr/>
          <p:nvPr/>
        </p:nvSpPr>
        <p:spPr>
          <a:xfrm>
            <a:off x="694944" y="1078992"/>
            <a:ext cx="640080" cy="50292"/>
          </a:xfrm>
          <a:prstGeom prst="rect">
            <a:avLst/>
          </a:prstGeom>
          <a:solidFill>
            <a:srgbClr val="7E469F"/>
          </a:solidFill>
          <a:ln>
            <a:solidFill>
              <a:srgbClr val="7E46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1170432"/>
            <a:ext cx="98755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>
                <a:solidFill>
                  <a:srgbClr val="6F6674"/>
                </a:solidFill>
                <a:latin typeface="Aptos"/>
              </a:rPr>
              <a:t>A project-specific index derived from chart behavior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502920"/>
            <a:ext cx="5029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1">
                <a:solidFill>
                  <a:srgbClr val="6F6674"/>
                </a:solidFill>
                <a:latin typeface="Aptos"/>
              </a:rP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10789920" cy="731520"/>
          </a:xfrm>
          <a:prstGeom prst="roundRect">
            <a:avLst>
              <a:gd name="adj" fmla="val 12000"/>
            </a:avLst>
          </a:prstGeom>
          <a:solidFill>
            <a:srgbClr val="FAF8FC"/>
          </a:solidFill>
          <a:ln>
            <a:solidFill>
              <a:srgbClr val="FA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719072"/>
            <a:ext cx="1033272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532D69"/>
                </a:solidFill>
                <a:latin typeface="Aptos"/>
              </a:rPr>
              <a:t>Important: this is a chart-based analytical proxy, not a direct measurement of real-world fandom size.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606040"/>
            <a:ext cx="2743200" cy="15087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8E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97280" y="2852928"/>
            <a:ext cx="23774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700" b="1">
                <a:solidFill>
                  <a:srgbClr val="7E469F"/>
                </a:solidFill>
                <a:latin typeface="Aptos"/>
              </a:rPr>
              <a:t>40%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401568"/>
            <a:ext cx="23774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50" b="1">
                <a:solidFill>
                  <a:srgbClr val="27202B"/>
                </a:solidFill>
                <a:latin typeface="Aptos"/>
              </a:rPr>
              <a:t>Re-entry frequency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51960" y="2606040"/>
            <a:ext cx="2743200" cy="15087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8E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434840" y="2852928"/>
            <a:ext cx="23774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700" b="1">
                <a:solidFill>
                  <a:srgbClr val="7E469F"/>
                </a:solidFill>
                <a:latin typeface="Aptos"/>
              </a:rPr>
              <a:t>30%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3401568"/>
            <a:ext cx="23774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50" b="1">
                <a:solidFill>
                  <a:srgbClr val="27202B"/>
                </a:solidFill>
                <a:latin typeface="Aptos"/>
              </a:rPr>
              <a:t>Chart strength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89520" y="2606040"/>
            <a:ext cx="2743200" cy="15087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8E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72400" y="2852928"/>
            <a:ext cx="23774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700" b="1">
                <a:solidFill>
                  <a:srgbClr val="7E469F"/>
                </a:solidFill>
                <a:latin typeface="Aptos"/>
              </a:rPr>
              <a:t>30%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3401568"/>
            <a:ext cx="23774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50" b="1">
                <a:solidFill>
                  <a:srgbClr val="27202B"/>
                </a:solidFill>
                <a:latin typeface="Aptos"/>
              </a:rPr>
              <a:t>Average momentum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4526280"/>
            <a:ext cx="10012680" cy="868680"/>
          </a:xfrm>
          <a:prstGeom prst="roundRect">
            <a:avLst>
              <a:gd name="adj" fmla="val 12000"/>
            </a:avLst>
          </a:prstGeom>
          <a:solidFill>
            <a:srgbClr val="FAF8FC"/>
          </a:solidFill>
          <a:ln>
            <a:solidFill>
              <a:srgbClr val="FA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188720" y="4736592"/>
            <a:ext cx="94640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50" b="1">
                <a:solidFill>
                  <a:srgbClr val="27202B"/>
                </a:solidFill>
                <a:latin typeface="Aptos"/>
              </a:rPr>
              <a:t>Higher score = more frequent returns + stronger chart positions + stronger comeback momentum within this project’s framework.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6492240"/>
            <a:ext cx="36576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6F6674"/>
                </a:solidFill>
                <a:latin typeface="Aptos"/>
              </a:rPr>
              <a:t>K-POP CHART ANALYTICS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789920" y="6574536"/>
            <a:ext cx="685800" cy="22860"/>
          </a:xfrm>
          <a:prstGeom prst="rect">
            <a:avLst/>
          </a:prstGeom>
          <a:solidFill>
            <a:srgbClr val="DECFE7"/>
          </a:solidFill>
          <a:ln>
            <a:solidFill>
              <a:srgbClr val="DECF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502920"/>
            <a:ext cx="89611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532D69"/>
                </a:solidFill>
                <a:latin typeface="Aptos"/>
              </a:rPr>
              <a:t>Chart Sustainability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694944" y="1078992"/>
            <a:ext cx="640080" cy="50292"/>
          </a:xfrm>
          <a:prstGeom prst="rect">
            <a:avLst/>
          </a:prstGeom>
          <a:solidFill>
            <a:srgbClr val="7E469F"/>
          </a:solidFill>
          <a:ln>
            <a:solidFill>
              <a:srgbClr val="7E46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1170432"/>
            <a:ext cx="98755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>
                <a:solidFill>
                  <a:srgbClr val="6F6674"/>
                </a:solidFill>
                <a:latin typeface="Aptos"/>
              </a:rPr>
              <a:t>Measuring persistent chart behavior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502920"/>
            <a:ext cx="5029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1">
                <a:solidFill>
                  <a:srgbClr val="6F6674"/>
                </a:solidFill>
                <a:latin typeface="Aptos"/>
              </a:rP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7315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532D69"/>
                </a:solidFill>
                <a:latin typeface="Aptos"/>
              </a:rPr>
              <a:t>Four dimensions contribute equally to the sustainability score.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148840"/>
            <a:ext cx="2331720" cy="1371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8E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2359152"/>
            <a:ext cx="1965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7E469F"/>
                </a:solidFill>
                <a:latin typeface="Aptos"/>
              </a:rPr>
              <a:t>25%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852928"/>
            <a:ext cx="19659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27202B"/>
                </a:solidFill>
                <a:latin typeface="Aptos"/>
              </a:rPr>
              <a:t>Normalized
frequency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2148840"/>
            <a:ext cx="2331720" cy="1371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8E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11880" y="2359152"/>
            <a:ext cx="1965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7E469F"/>
                </a:solidFill>
                <a:latin typeface="Aptos"/>
              </a:rPr>
              <a:t>25%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1880" y="2852928"/>
            <a:ext cx="19659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27202B"/>
                </a:solidFill>
                <a:latin typeface="Aptos"/>
              </a:rPr>
              <a:t>Chart
strength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2148840"/>
            <a:ext cx="2331720" cy="1371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8E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09360" y="2359152"/>
            <a:ext cx="1965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7E469F"/>
                </a:solidFill>
                <a:latin typeface="Aptos"/>
              </a:rPr>
              <a:t>25%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2852928"/>
            <a:ext cx="19659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27202B"/>
                </a:solidFill>
                <a:latin typeface="Aptos"/>
              </a:rPr>
              <a:t>Average
momentum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23960" y="2148840"/>
            <a:ext cx="2331720" cy="1371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8E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006840" y="2359152"/>
            <a:ext cx="1965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7E469F"/>
                </a:solidFill>
                <a:latin typeface="Aptos"/>
              </a:rPr>
              <a:t>25%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06840" y="2852928"/>
            <a:ext cx="19659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27202B"/>
                </a:solidFill>
                <a:latin typeface="Aptos"/>
              </a:rPr>
              <a:t>Fandom
intensity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069080"/>
            <a:ext cx="10378440" cy="1143000"/>
          </a:xfrm>
          <a:prstGeom prst="roundRect">
            <a:avLst>
              <a:gd name="adj" fmla="val 12000"/>
            </a:avLst>
          </a:prstGeom>
          <a:solidFill>
            <a:srgbClr val="FAF8FC"/>
          </a:solidFill>
          <a:ln>
            <a:solidFill>
              <a:srgbClr val="FA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05840" y="4315968"/>
            <a:ext cx="12801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7E469F"/>
                </a:solidFill>
                <a:latin typeface="Aptos"/>
              </a:rPr>
              <a:t>Interpretation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40280" y="4224528"/>
            <a:ext cx="8183879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27202B"/>
                </a:solidFill>
                <a:latin typeface="Aptos"/>
              </a:rPr>
              <a:t>Sustainability distinguishes a strong single comeback from repeated, stronger chart behavior over time.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6492240"/>
            <a:ext cx="36576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6F6674"/>
                </a:solidFill>
                <a:latin typeface="Aptos"/>
              </a:rPr>
              <a:t>K-POP CHART ANALYTICS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789920" y="6574536"/>
            <a:ext cx="685800" cy="22860"/>
          </a:xfrm>
          <a:prstGeom prst="rect">
            <a:avLst/>
          </a:prstGeom>
          <a:solidFill>
            <a:srgbClr val="DECFE7"/>
          </a:solidFill>
          <a:ln>
            <a:solidFill>
              <a:srgbClr val="DECF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502920"/>
            <a:ext cx="89611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532D69"/>
                </a:solidFill>
                <a:latin typeface="Aptos"/>
              </a:rPr>
              <a:t>Integrated Performance Framework</a:t>
            </a:r>
          </a:p>
        </p:txBody>
      </p:sp>
      <p:sp>
        <p:nvSpPr>
          <p:cNvPr id="3" name="Rectangle 2"/>
          <p:cNvSpPr/>
          <p:nvPr/>
        </p:nvSpPr>
        <p:spPr>
          <a:xfrm>
            <a:off x="694944" y="1078992"/>
            <a:ext cx="640080" cy="50292"/>
          </a:xfrm>
          <a:prstGeom prst="rect">
            <a:avLst/>
          </a:prstGeom>
          <a:solidFill>
            <a:srgbClr val="7E469F"/>
          </a:solidFill>
          <a:ln>
            <a:solidFill>
              <a:srgbClr val="7E46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1170432"/>
            <a:ext cx="98755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>
                <a:solidFill>
                  <a:srgbClr val="6F6674"/>
                </a:solidFill>
                <a:latin typeface="Aptos"/>
              </a:rPr>
              <a:t>Bringing the three analytical dimensions together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502920"/>
            <a:ext cx="5029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1">
                <a:solidFill>
                  <a:srgbClr val="6F6674"/>
                </a:solidFill>
                <a:latin typeface="Aptos"/>
              </a:rPr>
              <a:t>09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645920"/>
            <a:ext cx="3017520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8E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51560" y="1856231"/>
            <a:ext cx="26517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700" b="1">
                <a:solidFill>
                  <a:srgbClr val="7E469F"/>
                </a:solidFill>
                <a:latin typeface="Aptos"/>
              </a:rPr>
              <a:t>35%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359152"/>
            <a:ext cx="26517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27202B"/>
                </a:solidFill>
                <a:latin typeface="Aptos"/>
              </a:rPr>
              <a:t>Sustainability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645920"/>
            <a:ext cx="3017520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8E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0" y="1856231"/>
            <a:ext cx="26517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700" b="1">
                <a:solidFill>
                  <a:srgbClr val="7E469F"/>
                </a:solidFill>
                <a:latin typeface="Aptos"/>
              </a:rPr>
              <a:t>35%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359152"/>
            <a:ext cx="26517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27202B"/>
                </a:solidFill>
                <a:latin typeface="Aptos"/>
              </a:rPr>
              <a:t>Fandom intensity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09560" y="1645920"/>
            <a:ext cx="3017520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8E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092440" y="1856231"/>
            <a:ext cx="26517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700" b="1">
                <a:solidFill>
                  <a:srgbClr val="7E469F"/>
                </a:solidFill>
                <a:latin typeface="Aptos"/>
              </a:rPr>
              <a:t>30%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92440" y="2359152"/>
            <a:ext cx="26517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27202B"/>
                </a:solidFill>
                <a:latin typeface="Aptos"/>
              </a:rPr>
              <a:t>Average momentum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566160"/>
            <a:ext cx="41148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1">
                <a:solidFill>
                  <a:srgbClr val="532D69"/>
                </a:solidFill>
                <a:latin typeface="Aptos"/>
              </a:rPr>
              <a:t>Overall performance score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4160520"/>
            <a:ext cx="9966960" cy="548640"/>
          </a:xfrm>
          <a:prstGeom prst="roundRect">
            <a:avLst>
              <a:gd name="adj" fmla="val 12000"/>
            </a:avLst>
          </a:prstGeom>
          <a:solidFill>
            <a:srgbClr val="FAF8FC"/>
          </a:solidFill>
          <a:ln>
            <a:solidFill>
              <a:srgbClr val="FA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868680" y="4160520"/>
            <a:ext cx="6766560" cy="548640"/>
          </a:xfrm>
          <a:prstGeom prst="roundRect">
            <a:avLst>
              <a:gd name="adj" fmla="val 12000"/>
            </a:avLst>
          </a:prstGeom>
          <a:solidFill>
            <a:srgbClr val="7E469F"/>
          </a:solidFill>
          <a:ln>
            <a:solidFill>
              <a:srgbClr val="7E46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68680" y="4983480"/>
            <a:ext cx="7315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6F6674"/>
                </a:solidFill>
                <a:latin typeface="Aptos"/>
              </a:rPr>
              <a:t>Normalized dimensions → weighted composite score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5394960"/>
            <a:ext cx="7315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1">
                <a:solidFill>
                  <a:srgbClr val="532D69"/>
                </a:solidFill>
                <a:latin typeface="Aptos"/>
              </a:rPr>
              <a:t>The model is designed for comparative analysis within this dataset.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6492240"/>
            <a:ext cx="36576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6F6674"/>
                </a:solidFill>
                <a:latin typeface="Aptos"/>
              </a:rPr>
              <a:t>K-POP CHART ANALYTICS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789920" y="6574536"/>
            <a:ext cx="685800" cy="22860"/>
          </a:xfrm>
          <a:prstGeom prst="rect">
            <a:avLst/>
          </a:prstGeom>
          <a:solidFill>
            <a:srgbClr val="DECFE7"/>
          </a:solidFill>
          <a:ln>
            <a:solidFill>
              <a:srgbClr val="DECF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502920"/>
            <a:ext cx="89611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532D69"/>
                </a:solidFill>
                <a:latin typeface="Aptos"/>
              </a:rPr>
              <a:t>Key Results</a:t>
            </a:r>
          </a:p>
        </p:txBody>
      </p:sp>
      <p:sp>
        <p:nvSpPr>
          <p:cNvPr id="3" name="Rectangle 2"/>
          <p:cNvSpPr/>
          <p:nvPr/>
        </p:nvSpPr>
        <p:spPr>
          <a:xfrm>
            <a:off x="694944" y="1078992"/>
            <a:ext cx="640080" cy="50292"/>
          </a:xfrm>
          <a:prstGeom prst="rect">
            <a:avLst/>
          </a:prstGeom>
          <a:solidFill>
            <a:srgbClr val="7E469F"/>
          </a:solidFill>
          <a:ln>
            <a:solidFill>
              <a:srgbClr val="7E46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1170432"/>
            <a:ext cx="98755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>
                <a:solidFill>
                  <a:srgbClr val="6F6674"/>
                </a:solidFill>
                <a:latin typeface="Aptos"/>
              </a:rPr>
              <a:t>Selected findings from the final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502920"/>
            <a:ext cx="5029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1">
                <a:solidFill>
                  <a:srgbClr val="6F6674"/>
                </a:solidFill>
                <a:latin typeface="Aptos"/>
              </a:rP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3063240" cy="1325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8E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554480"/>
            <a:ext cx="54864" cy="1325880"/>
          </a:xfrm>
          <a:prstGeom prst="rect">
            <a:avLst/>
          </a:prstGeom>
          <a:solidFill>
            <a:srgbClr val="532D69"/>
          </a:solidFill>
          <a:ln>
            <a:solidFill>
              <a:srgbClr val="532D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41832" y="1719072"/>
            <a:ext cx="26974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532D69"/>
                </a:solidFill>
                <a:latin typeface="Aptos"/>
              </a:rPr>
              <a:t>31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" y="2194560"/>
            <a:ext cx="2697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6F6674"/>
                </a:solidFill>
                <a:latin typeface="Aptos"/>
              </a:rPr>
              <a:t>Re-entries • Our Blues, Our Life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977639" y="1554480"/>
            <a:ext cx="3063240" cy="1325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8E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977639" y="1554480"/>
            <a:ext cx="54864" cy="1325880"/>
          </a:xfrm>
          <a:prstGeom prst="rect">
            <a:avLst/>
          </a:prstGeom>
          <a:solidFill>
            <a:srgbClr val="7E469F"/>
          </a:solidFill>
          <a:ln>
            <a:solidFill>
              <a:srgbClr val="7E46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187952" y="1719072"/>
            <a:ext cx="26974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532D69"/>
                </a:solidFill>
                <a:latin typeface="Aptos"/>
              </a:rPr>
              <a:t>8.68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87952" y="2194560"/>
            <a:ext cx="2697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6F6674"/>
                </a:solidFill>
                <a:latin typeface="Aptos"/>
              </a:rPr>
              <a:t>Average re-entry gap • days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23760" y="1554480"/>
            <a:ext cx="3063240" cy="1325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8E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223760" y="1554480"/>
            <a:ext cx="54864" cy="1325880"/>
          </a:xfrm>
          <a:prstGeom prst="rect">
            <a:avLst/>
          </a:prstGeom>
          <a:solidFill>
            <a:srgbClr val="9768B5"/>
          </a:solidFill>
          <a:ln>
            <a:solidFill>
              <a:srgbClr val="9768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434072" y="1719072"/>
            <a:ext cx="26974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532D69"/>
                </a:solidFill>
                <a:latin typeface="Aptos"/>
              </a:rPr>
              <a:t>0.0682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34072" y="2194560"/>
            <a:ext cx="2697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6F6674"/>
                </a:solidFill>
                <a:latin typeface="Aptos"/>
              </a:rPr>
              <a:t>Momentum–fandom correlation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337560"/>
            <a:ext cx="9555480" cy="1874519"/>
          </a:xfrm>
          <a:prstGeom prst="roundRect">
            <a:avLst>
              <a:gd name="adj" fmla="val 12000"/>
            </a:avLst>
          </a:prstGeom>
          <a:solidFill>
            <a:srgbClr val="FAF8FC"/>
          </a:solidFill>
          <a:ln>
            <a:solidFill>
              <a:srgbClr val="FA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05840" y="3611880"/>
            <a:ext cx="20116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7E469F"/>
                </a:solidFill>
                <a:latin typeface="Aptos"/>
              </a:rPr>
              <a:t>KEY TAKEAWAYS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3977639"/>
            <a:ext cx="864108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50" b="0">
                <a:solidFill>
                  <a:srgbClr val="27202B"/>
                </a:solidFill>
                <a:latin typeface="Aptos"/>
              </a:rPr>
              <a:t>•  Re-entry behavior can be measured consistently from chart history.
•  Momentum combines absence duration with return strength.
•  The fandom index is explicitly defined as a project-specific chart proxy.
•  Sustainability and integrated scoring provide a broader performance view.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6492240"/>
            <a:ext cx="36576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6F6674"/>
                </a:solidFill>
                <a:latin typeface="Aptos"/>
              </a:rPr>
              <a:t>K-POP CHART ANALYTICS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789920" y="6574536"/>
            <a:ext cx="685800" cy="22860"/>
          </a:xfrm>
          <a:prstGeom prst="rect">
            <a:avLst/>
          </a:prstGeom>
          <a:solidFill>
            <a:srgbClr val="DECFE7"/>
          </a:solidFill>
          <a:ln>
            <a:solidFill>
              <a:srgbClr val="DECF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502920"/>
            <a:ext cx="89611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532D69"/>
                </a:solidFill>
                <a:latin typeface="Aptos"/>
              </a:rPr>
              <a:t>Interactive Dashboard</a:t>
            </a:r>
          </a:p>
        </p:txBody>
      </p:sp>
      <p:sp>
        <p:nvSpPr>
          <p:cNvPr id="3" name="Rectangle 2"/>
          <p:cNvSpPr/>
          <p:nvPr/>
        </p:nvSpPr>
        <p:spPr>
          <a:xfrm>
            <a:off x="694944" y="1078992"/>
            <a:ext cx="640080" cy="50292"/>
          </a:xfrm>
          <a:prstGeom prst="rect">
            <a:avLst/>
          </a:prstGeom>
          <a:solidFill>
            <a:srgbClr val="7E469F"/>
          </a:solidFill>
          <a:ln>
            <a:solidFill>
              <a:srgbClr val="7E46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1170432"/>
            <a:ext cx="98755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>
                <a:solidFill>
                  <a:srgbClr val="6F6674"/>
                </a:solidFill>
                <a:latin typeface="Aptos"/>
              </a:rPr>
              <a:t>A Streamlit interface for exploration and storytelling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502920"/>
            <a:ext cx="5029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1">
                <a:solidFill>
                  <a:srgbClr val="6F6674"/>
                </a:solidFill>
                <a:latin typeface="Aptos"/>
              </a:rP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10698480" cy="4480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8E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508760"/>
            <a:ext cx="10698480" cy="438912"/>
          </a:xfrm>
          <a:prstGeom prst="rect">
            <a:avLst/>
          </a:prstGeom>
          <a:solidFill>
            <a:srgbClr val="532D69"/>
          </a:solidFill>
          <a:ln>
            <a:solidFill>
              <a:srgbClr val="532D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1591056"/>
            <a:ext cx="30175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K-POP CHART ANALYTICS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0120" y="2240280"/>
            <a:ext cx="210312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8E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960120" y="2240280"/>
            <a:ext cx="54864" cy="868680"/>
          </a:xfrm>
          <a:prstGeom prst="rect">
            <a:avLst/>
          </a:prstGeom>
          <a:solidFill>
            <a:srgbClr val="7E469F"/>
          </a:solidFill>
          <a:ln>
            <a:solidFill>
              <a:srgbClr val="7E46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70432" y="2404872"/>
            <a:ext cx="17373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532D69"/>
                </a:solidFill>
                <a:latin typeface="Aptos"/>
              </a:rPr>
              <a:t>1,067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70432" y="2880360"/>
            <a:ext cx="17373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6F6674"/>
                </a:solidFill>
                <a:latin typeface="Aptos"/>
              </a:rPr>
              <a:t>Re-entries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47288" y="2240280"/>
            <a:ext cx="210312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8E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447288" y="2240280"/>
            <a:ext cx="54864" cy="868680"/>
          </a:xfrm>
          <a:prstGeom prst="rect">
            <a:avLst/>
          </a:prstGeom>
          <a:solidFill>
            <a:srgbClr val="7E469F"/>
          </a:solidFill>
          <a:ln>
            <a:solidFill>
              <a:srgbClr val="7E46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657600" y="2404872"/>
            <a:ext cx="17373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532D69"/>
                </a:solidFill>
                <a:latin typeface="Aptos"/>
              </a:rPr>
              <a:t>8.68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2880360"/>
            <a:ext cx="17373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6F6674"/>
                </a:solidFill>
                <a:latin typeface="Aptos"/>
              </a:rPr>
              <a:t>Avg gap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34456" y="2240280"/>
            <a:ext cx="210312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8E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934456" y="2240280"/>
            <a:ext cx="54864" cy="868680"/>
          </a:xfrm>
          <a:prstGeom prst="rect">
            <a:avLst/>
          </a:prstGeom>
          <a:solidFill>
            <a:srgbClr val="7E469F"/>
          </a:solidFill>
          <a:ln>
            <a:solidFill>
              <a:srgbClr val="7E46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144768" y="2404872"/>
            <a:ext cx="17373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532D69"/>
                </a:solidFill>
                <a:latin typeface="Aptos"/>
              </a:rPr>
              <a:t>194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44768" y="2880360"/>
            <a:ext cx="17373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6F6674"/>
                </a:solidFill>
                <a:latin typeface="Aptos"/>
              </a:rPr>
              <a:t>Artists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421624" y="2240280"/>
            <a:ext cx="210312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8E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421624" y="2240280"/>
            <a:ext cx="54864" cy="868680"/>
          </a:xfrm>
          <a:prstGeom prst="rect">
            <a:avLst/>
          </a:prstGeom>
          <a:solidFill>
            <a:srgbClr val="7E469F"/>
          </a:solidFill>
          <a:ln>
            <a:solidFill>
              <a:srgbClr val="7E46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631936" y="2404872"/>
            <a:ext cx="17373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532D69"/>
                </a:solidFill>
                <a:latin typeface="Aptos"/>
              </a:rPr>
              <a:t>0.0682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31936" y="2880360"/>
            <a:ext cx="17373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6F6674"/>
                </a:solidFill>
                <a:latin typeface="Aptos"/>
              </a:rPr>
              <a:t>Correlation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60120" y="3429000"/>
            <a:ext cx="4663440" cy="1783080"/>
          </a:xfrm>
          <a:prstGeom prst="roundRect">
            <a:avLst>
              <a:gd name="adj" fmla="val 12000"/>
            </a:avLst>
          </a:prstGeom>
          <a:solidFill>
            <a:srgbClr val="FAF8FC"/>
          </a:solidFill>
          <a:ln>
            <a:solidFill>
              <a:srgbClr val="FA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5897880" y="3429000"/>
            <a:ext cx="4617720" cy="1783080"/>
          </a:xfrm>
          <a:prstGeom prst="roundRect">
            <a:avLst>
              <a:gd name="adj" fmla="val 12000"/>
            </a:avLst>
          </a:prstGeom>
          <a:solidFill>
            <a:srgbClr val="FAF8FC"/>
          </a:solidFill>
          <a:ln>
            <a:solidFill>
              <a:srgbClr val="FA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234440" y="3639312"/>
            <a:ext cx="1828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532D69"/>
                </a:solidFill>
                <a:latin typeface="Aptos"/>
              </a:rPr>
              <a:t>Top Songs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234440" y="4069080"/>
            <a:ext cx="3474720" cy="91440"/>
          </a:xfrm>
          <a:prstGeom prst="roundRect">
            <a:avLst>
              <a:gd name="adj" fmla="val 12000"/>
            </a:avLst>
          </a:prstGeom>
          <a:solidFill>
            <a:srgbClr val="7E469F"/>
          </a:solidFill>
          <a:ln>
            <a:solidFill>
              <a:srgbClr val="7E46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1234440" y="4270248"/>
            <a:ext cx="3063240" cy="91440"/>
          </a:xfrm>
          <a:prstGeom prst="roundRect">
            <a:avLst>
              <a:gd name="adj" fmla="val 12000"/>
            </a:avLst>
          </a:prstGeom>
          <a:solidFill>
            <a:srgbClr val="7E469F"/>
          </a:solidFill>
          <a:ln>
            <a:solidFill>
              <a:srgbClr val="7E46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1234440" y="4471416"/>
            <a:ext cx="2697480" cy="91440"/>
          </a:xfrm>
          <a:prstGeom prst="roundRect">
            <a:avLst>
              <a:gd name="adj" fmla="val 12000"/>
            </a:avLst>
          </a:prstGeom>
          <a:solidFill>
            <a:srgbClr val="7E469F"/>
          </a:solidFill>
          <a:ln>
            <a:solidFill>
              <a:srgbClr val="7E46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1234440" y="4672584"/>
            <a:ext cx="2286000" cy="91440"/>
          </a:xfrm>
          <a:prstGeom prst="roundRect">
            <a:avLst>
              <a:gd name="adj" fmla="val 12000"/>
            </a:avLst>
          </a:prstGeom>
          <a:solidFill>
            <a:srgbClr val="7E469F"/>
          </a:solidFill>
          <a:ln>
            <a:solidFill>
              <a:srgbClr val="7E46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1234440" y="4873752"/>
            <a:ext cx="1920240" cy="91440"/>
          </a:xfrm>
          <a:prstGeom prst="roundRect">
            <a:avLst>
              <a:gd name="adj" fmla="val 12000"/>
            </a:avLst>
          </a:prstGeom>
          <a:solidFill>
            <a:srgbClr val="7E469F"/>
          </a:solidFill>
          <a:ln>
            <a:solidFill>
              <a:srgbClr val="7E46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172200" y="3639312"/>
            <a:ext cx="2560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532D69"/>
                </a:solidFill>
                <a:latin typeface="Aptos"/>
              </a:rPr>
              <a:t>Momentum vs Fandom</a:t>
            </a:r>
          </a:p>
        </p:txBody>
      </p:sp>
      <p:sp>
        <p:nvSpPr>
          <p:cNvPr id="34" name="Oval 33"/>
          <p:cNvSpPr/>
          <p:nvPr/>
        </p:nvSpPr>
        <p:spPr>
          <a:xfrm>
            <a:off x="6355080" y="4572000"/>
            <a:ext cx="118872" cy="118872"/>
          </a:xfrm>
          <a:prstGeom prst="ellipse">
            <a:avLst/>
          </a:prstGeom>
          <a:solidFill>
            <a:srgbClr val="7E469F"/>
          </a:solidFill>
          <a:ln>
            <a:solidFill>
              <a:srgbClr val="7E46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6903720" y="4224528"/>
            <a:ext cx="118872" cy="118872"/>
          </a:xfrm>
          <a:prstGeom prst="ellipse">
            <a:avLst/>
          </a:prstGeom>
          <a:solidFill>
            <a:srgbClr val="7E469F"/>
          </a:solidFill>
          <a:ln>
            <a:solidFill>
              <a:srgbClr val="7E46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7543800" y="4736592"/>
            <a:ext cx="118872" cy="118872"/>
          </a:xfrm>
          <a:prstGeom prst="ellipse">
            <a:avLst/>
          </a:prstGeom>
          <a:solidFill>
            <a:srgbClr val="7E469F"/>
          </a:solidFill>
          <a:ln>
            <a:solidFill>
              <a:srgbClr val="7E46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8183879" y="4023360"/>
            <a:ext cx="118872" cy="118872"/>
          </a:xfrm>
          <a:prstGeom prst="ellipse">
            <a:avLst/>
          </a:prstGeom>
          <a:solidFill>
            <a:srgbClr val="7E469F"/>
          </a:solidFill>
          <a:ln>
            <a:solidFill>
              <a:srgbClr val="7E46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8915400" y="4480560"/>
            <a:ext cx="118872" cy="118872"/>
          </a:xfrm>
          <a:prstGeom prst="ellipse">
            <a:avLst/>
          </a:prstGeom>
          <a:solidFill>
            <a:srgbClr val="7E469F"/>
          </a:solidFill>
          <a:ln>
            <a:solidFill>
              <a:srgbClr val="7E46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9784080" y="3886200"/>
            <a:ext cx="118872" cy="118872"/>
          </a:xfrm>
          <a:prstGeom prst="ellipse">
            <a:avLst/>
          </a:prstGeom>
          <a:solidFill>
            <a:srgbClr val="7E469F"/>
          </a:solidFill>
          <a:ln>
            <a:solidFill>
              <a:srgbClr val="7E46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60120" y="5559552"/>
            <a:ext cx="99669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0">
                <a:solidFill>
                  <a:srgbClr val="6F6674"/>
                </a:solidFill>
                <a:latin typeface="Aptos"/>
              </a:rPr>
              <a:t>Home  •  Top Songs  •  Momentum  •  Fandom  •  Sustainability  •  Song Explorer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800" y="6492240"/>
            <a:ext cx="36576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6F6674"/>
                </a:solidFill>
                <a:latin typeface="Aptos"/>
              </a:rPr>
              <a:t>K-POP CHART ANALYTICS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0789920" y="6574536"/>
            <a:ext cx="685800" cy="22860"/>
          </a:xfrm>
          <a:prstGeom prst="rect">
            <a:avLst/>
          </a:prstGeom>
          <a:solidFill>
            <a:srgbClr val="DECFE7"/>
          </a:solidFill>
          <a:ln>
            <a:solidFill>
              <a:srgbClr val="DECF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502920"/>
            <a:ext cx="89611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532D69"/>
                </a:solidFill>
                <a:latin typeface="Aptos"/>
              </a:rPr>
              <a:t>Technology, Conclusion &amp; Future Scope</a:t>
            </a:r>
          </a:p>
        </p:txBody>
      </p:sp>
      <p:sp>
        <p:nvSpPr>
          <p:cNvPr id="3" name="Rectangle 2"/>
          <p:cNvSpPr/>
          <p:nvPr/>
        </p:nvSpPr>
        <p:spPr>
          <a:xfrm>
            <a:off x="694944" y="1078992"/>
            <a:ext cx="640080" cy="50292"/>
          </a:xfrm>
          <a:prstGeom prst="rect">
            <a:avLst/>
          </a:prstGeom>
          <a:solidFill>
            <a:srgbClr val="7E469F"/>
          </a:solidFill>
          <a:ln>
            <a:solidFill>
              <a:srgbClr val="7E46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1170432"/>
            <a:ext cx="98755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>
                <a:solidFill>
                  <a:srgbClr val="6F6674"/>
                </a:solidFill>
                <a:latin typeface="Aptos"/>
              </a:rPr>
              <a:t>From analysis notebook to interactive product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502920"/>
            <a:ext cx="5029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1">
                <a:solidFill>
                  <a:srgbClr val="6F6674"/>
                </a:solidFill>
                <a:latin typeface="Aptos"/>
              </a:rP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3657600" cy="4297680"/>
          </a:xfrm>
          <a:prstGeom prst="roundRect">
            <a:avLst>
              <a:gd name="adj" fmla="val 12000"/>
            </a:avLst>
          </a:prstGeom>
          <a:solidFill>
            <a:srgbClr val="FAF8FC"/>
          </a:solidFill>
          <a:ln>
            <a:solidFill>
              <a:srgbClr val="FA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1847088"/>
            <a:ext cx="1828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7E469F"/>
                </a:solidFill>
                <a:latin typeface="Aptos"/>
              </a:rPr>
              <a:t>TECH STACK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267712"/>
            <a:ext cx="1645920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>
                <a:solidFill>
                  <a:srgbClr val="532D69"/>
                </a:solidFill>
                <a:latin typeface="Aptos"/>
              </a:rPr>
              <a:t>Python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14600" y="2267712"/>
            <a:ext cx="1371600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50" b="0">
                <a:solidFill>
                  <a:srgbClr val="6F6674"/>
                </a:solidFill>
                <a:latin typeface="Aptos"/>
              </a:rPr>
              <a:t>Core 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770632"/>
            <a:ext cx="1645920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>
                <a:solidFill>
                  <a:srgbClr val="532D69"/>
                </a:solidFill>
                <a:latin typeface="Aptos"/>
              </a:rPr>
              <a:t>Pandas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14600" y="2770632"/>
            <a:ext cx="1371600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50" b="0">
                <a:solidFill>
                  <a:srgbClr val="6F6674"/>
                </a:solidFill>
                <a:latin typeface="Aptos"/>
              </a:rPr>
              <a:t>Data processing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273552"/>
            <a:ext cx="1645920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>
                <a:solidFill>
                  <a:srgbClr val="532D69"/>
                </a:solidFill>
                <a:latin typeface="Aptos"/>
              </a:rPr>
              <a:t>Plotly / Matplotlib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14600" y="3273552"/>
            <a:ext cx="1371600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50" b="0">
                <a:solidFill>
                  <a:srgbClr val="6F6674"/>
                </a:solidFill>
                <a:latin typeface="Aptos"/>
              </a:rPr>
              <a:t>Visualization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3776472"/>
            <a:ext cx="1645920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>
                <a:solidFill>
                  <a:srgbClr val="532D69"/>
                </a:solidFill>
                <a:latin typeface="Aptos"/>
              </a:rPr>
              <a:t>Jupyter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14600" y="3776472"/>
            <a:ext cx="1371600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50" b="0">
                <a:solidFill>
                  <a:srgbClr val="6F6674"/>
                </a:solidFill>
                <a:latin typeface="Aptos"/>
              </a:rPr>
              <a:t>Notebook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4279392"/>
            <a:ext cx="1645920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>
                <a:solidFill>
                  <a:srgbClr val="532D69"/>
                </a:solidFill>
                <a:latin typeface="Aptos"/>
              </a:rPr>
              <a:t>Streamlit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14600" y="4279392"/>
            <a:ext cx="1371600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50" b="0">
                <a:solidFill>
                  <a:srgbClr val="6F6674"/>
                </a:solidFill>
                <a:latin typeface="Aptos"/>
              </a:rPr>
              <a:t>Dashboard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4782312"/>
            <a:ext cx="1645920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>
                <a:solidFill>
                  <a:srgbClr val="532D69"/>
                </a:solidFill>
                <a:latin typeface="Aptos"/>
              </a:rPr>
              <a:t>CSV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14600" y="4782312"/>
            <a:ext cx="1371600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50" b="0">
                <a:solidFill>
                  <a:srgbClr val="6F6674"/>
                </a:solidFill>
                <a:latin typeface="Aptos"/>
              </a:rPr>
              <a:t>Data exchange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663440" y="1554480"/>
            <a:ext cx="6812280" cy="4297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8E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983480" y="1847088"/>
            <a:ext cx="1828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7E469F"/>
                </a:solidFill>
                <a:latin typeface="Aptos"/>
              </a:rPr>
              <a:t>CONCLUSION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83480" y="2240280"/>
            <a:ext cx="58064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27202B"/>
                </a:solidFill>
                <a:latin typeface="Aptos"/>
              </a:rPr>
              <a:t>The project creates a structured way to study repeated chart returns, comeback momentum, chart-based fandom intensity and sustainability.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83480" y="3429000"/>
            <a:ext cx="20116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7E469F"/>
                </a:solidFill>
                <a:latin typeface="Aptos"/>
              </a:rPr>
              <a:t>FUTURE SCOPE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83480" y="3794760"/>
            <a:ext cx="5806440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>
                <a:solidFill>
                  <a:srgbClr val="27202B"/>
                </a:solidFill>
                <a:latin typeface="Aptos"/>
              </a:rPr>
              <a:t>•  Add streaming, social-media and search-trend signals
•  Develop predictive models for future chart re-entry
•  Expand beyond the South Korea Top 50 playlist
•  Deploy the dashboard as a public analytics product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983480" y="5285232"/>
            <a:ext cx="5806440" cy="384048"/>
          </a:xfrm>
          <a:prstGeom prst="roundRect">
            <a:avLst>
              <a:gd name="adj" fmla="val 12000"/>
            </a:avLst>
          </a:prstGeom>
          <a:solidFill>
            <a:srgbClr val="532D69"/>
          </a:solidFill>
          <a:ln>
            <a:solidFill>
              <a:srgbClr val="532D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074920" y="5340096"/>
            <a:ext cx="56235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THANK YOU  •  QUESTIONS &amp; DISCUSSION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773</Words>
  <Application>Microsoft Office PowerPoint</Application>
  <PresentationFormat>Widescreen</PresentationFormat>
  <Paragraphs>193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DHRUVAL</dc:creator>
  <cp:keywords/>
  <dc:description>generated using python-pptx</dc:description>
  <cp:lastModifiedBy>dhruval panchal</cp:lastModifiedBy>
  <cp:revision>2</cp:revision>
  <dcterms:created xsi:type="dcterms:W3CDTF">2013-01-27T09:14:16Z</dcterms:created>
  <dcterms:modified xsi:type="dcterms:W3CDTF">2026-09-24T16:51:34Z</dcterms:modified>
  <cp:category/>
</cp:coreProperties>
</file>